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897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PROBABILIDAD Y ESTADÍSTICA COMPUTACIONAL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métricas </a:t>
            </a:r>
            <a:r>
              <a:rPr lang="en-US" sz="4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software</a:t>
            </a:r>
            <a:br>
              <a:rPr lang="en-US" sz="4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4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1 semana para desarrollar en casa con apoyo de IA generativa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Carrera:  </a:t>
            </a:r>
            <a:r>
              <a:rPr lang="en-US" sz="1400" dirty="0">
                <a:solidFill>
                  <a:srgbClr val="C7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Informática   ·   </a:t>
            </a:r>
            <a:r>
              <a:rPr lang="en-US" sz="1400" b="1" dirty="0">
                <a:solidFill>
                  <a:srgbClr val="8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Nivel:  </a:t>
            </a:r>
            <a:r>
              <a:rPr lang="en-US" sz="1400" dirty="0">
                <a:solidFill>
                  <a:srgbClr val="C7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2.º año   ·   </a:t>
            </a:r>
            <a:r>
              <a:rPr lang="en-US" sz="1400" b="1" dirty="0">
                <a:solidFill>
                  <a:srgbClr val="8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Lenguaje:  </a:t>
            </a:r>
            <a:r>
              <a:rPr lang="en-US" sz="1400" dirty="0">
                <a:solidFill>
                  <a:srgbClr val="C7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 ·   </a:t>
            </a:r>
            <a:r>
              <a:rPr lang="en-US" sz="1400" b="1" dirty="0">
                <a:solidFill>
                  <a:srgbClr val="8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Modalidad:  </a:t>
            </a:r>
            <a:r>
              <a:rPr lang="en-US" sz="1400" dirty="0">
                <a:solidFill>
                  <a:srgbClr val="C7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C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Probabilidad y Estadística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DATOS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escenario y el conjunto de datos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Asumes el rol de analista de datos de un equipo de ingeniería. Tu materia prima es un histórico de métricas de DevOps y tu herramienta es la estadística descriptiva en R. El archivo devops_metrics.csv tiene ~5.000 filas (un evento de integración/despliegue cada una) y puedes generarlo con IA.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11091672" cy="36576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2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build_time_min / deploy_time_min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continua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Duración de build y de despliegue (min)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commit_size_loc / num_bugs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discreta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Líneas modificadas y bugs tras el despliegue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test_coverage_pct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continua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de pruebas (0–100 %)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ticket_resolution_h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continua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para resolver el ticket asociado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/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Cualitativa nominal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(Alpha…Delta) y módulo (auth, api, ui…)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Cualitativa ordinal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· media · alta · crítica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deploy_status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Cualitativa nominal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· failed · rolled_back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Objetivos, entorno y trabajo con 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38728" cy="4343400"/>
          </a:xfrm>
          <a:prstGeom prst="rect">
            <a:avLst/>
          </a:prstGeom>
          <a:solidFill>
            <a:srgbClr val="EEF2F4"/>
          </a:solidFill>
          <a:ln w="12700">
            <a:solidFill>
              <a:srgbClr val="D3DBE0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5" name="Shape 3"/>
          <p:cNvSpPr/>
          <p:nvPr/>
        </p:nvSpPr>
        <p:spPr>
          <a:xfrm>
            <a:off x="4325112" y="1600200"/>
            <a:ext cx="3538728" cy="4343400"/>
          </a:xfrm>
          <a:prstGeom prst="rect">
            <a:avLst/>
          </a:prstGeom>
          <a:solidFill>
            <a:srgbClr val="EEF2F4"/>
          </a:solidFill>
          <a:ln w="12700">
            <a:solidFill>
              <a:srgbClr val="D3DBE0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6" name="Shape 4"/>
          <p:cNvSpPr/>
          <p:nvPr/>
        </p:nvSpPr>
        <p:spPr>
          <a:xfrm>
            <a:off x="8101584" y="1600200"/>
            <a:ext cx="3538728" cy="4343400"/>
          </a:xfrm>
          <a:prstGeom prst="rect">
            <a:avLst/>
          </a:prstGeom>
          <a:solidFill>
            <a:srgbClr val="EEF2F4"/>
          </a:solidFill>
          <a:ln w="12700">
            <a:solidFill>
              <a:srgbClr val="D3DBE0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7" name="Text 5"/>
          <p:cNvSpPr txBox="1"/>
          <p:nvPr/>
        </p:nvSpPr>
        <p:spPr>
          <a:xfrm>
            <a:off x="777240" y="178308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86000"/>
            <a:ext cx="308152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 interpretar medidas de tendencia central, dispersión y forma.</a:t>
            </a:r>
            <a:endParaRPr lang="en-US" sz="12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tablas de frecuencia y analizar relaciones entre variables.</a:t>
            </a:r>
            <a:endParaRPr lang="en-US" sz="12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Producir un reporte reproducible con conclusiones accionables.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53712" y="178308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Entorno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53712" y="2286000"/>
            <a:ext cx="3081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(≥ 4.2) + RStudio, Git y tidyverse.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moments para asimetría/curtosis.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rmarkdown o quarto para el reporte.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53712" y="4206240"/>
            <a:ext cx="3081528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3DBE0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2" name="Text 10"/>
          <p:cNvSpPr txBox="1"/>
          <p:nvPr/>
        </p:nvSpPr>
        <p:spPr>
          <a:xfrm>
            <a:off x="4700016" y="429768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install.packages(c(</a:t>
            </a:r>
            <a:endParaRPr lang="en-US" sz="10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"tidyverse","moments",</a:t>
            </a:r>
            <a:endParaRPr lang="en-US" sz="10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"rmarkdown","knitr"))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330184" y="178308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con IA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30184" y="2286000"/>
            <a:ext cx="308152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es asistente, no reemplazo: verifica y explica cada línea.</a:t>
            </a:r>
            <a:endParaRPr lang="en-US" sz="12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 una bitácora: anota cada prompt, sus versiones y qué corregiste.</a:t>
            </a:r>
            <a:endParaRPr lang="en-US" sz="12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bitácora de prompts el proyecto se considera incompleto.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1–2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Preparación y descripción de los datos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 y limpieza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Importar, inspeccionar y depurar: tipos correctos, faltantes tratados y toda decisión de limpieza justificada.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44952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534924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3DBE0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9" name="Text 7"/>
          <p:cNvSpPr txBox="1"/>
          <p:nvPr/>
        </p:nvSpPr>
        <p:spPr>
          <a:xfrm>
            <a:off x="694944" y="3429000"/>
            <a:ext cx="50566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read_csv("devops_metrics.csv")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glimpse(df); summary(df)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colSums(is.na(df))        # faltantes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df %&gt;% mutate(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priority = factor(priority,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ordered = TRUE),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team = as.factor(team))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46304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916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Descriptiva univariada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194560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cada variable con las tres familias: tendencia central, dispersión y forma (asimetría y curtosis).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044952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337560"/>
            <a:ext cx="534924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3DBE0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5" name="Text 13"/>
          <p:cNvSpPr txBox="1"/>
          <p:nvPr/>
        </p:nvSpPr>
        <p:spPr>
          <a:xfrm>
            <a:off x="6409944" y="3429000"/>
            <a:ext cx="50566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library(moments)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%&gt;% summarise(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media   = mean(build_time_min),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mediana = median(build_time_min),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sd      = sd(build_time_min),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cv      = sd(build_time_min) /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mean(build_time_min),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iqr     = IQR(build_time_min),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asim    = skewness(build_time_min))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3–4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Distribuciones y comparación por grupos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Frecuencias y agrupación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absoluta, relativa y acumulada; agrupar en clases (Sturges) e identificar la clase modal.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44952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534924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3DBE0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9" name="Text 7"/>
          <p:cNvSpPr txBox="1"/>
          <p:nvPr/>
        </p:nvSpPr>
        <p:spPr>
          <a:xfrm>
            <a:off x="694944" y="3429000"/>
            <a:ext cx="50566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&lt;- ceiling(1 + 3.322 *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log10(nrow(df)))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%&gt;%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mutate(clase =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cut(build_time_min, k)) %&gt;%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count(clase, name = "fa") %&gt;%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mutate(fr  = fa / sum(fa),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fac = cumsum(fa))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46304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916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por grupos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194560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métricas entre equipos, módulos y prioridades; formular hallazgos con evidencia numérica.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044952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337560"/>
            <a:ext cx="534924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3DBE0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5" name="Text 13"/>
          <p:cNvSpPr txBox="1"/>
          <p:nvPr/>
        </p:nvSpPr>
        <p:spPr>
          <a:xfrm>
            <a:off x="6409944" y="3429000"/>
            <a:ext cx="50566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%&gt;%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group_by(team) %&gt;%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summarise(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build_md = median(build_time_min),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bugs     = mean(num_bugs),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fallos   = mean(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deploy_status == "failed"))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table(df$team, df$deploy_status)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5–6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Relaciones entre variables y visualización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Relaciones bivariadas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entre cuantitativas y tablas de contingencia entre cualitativas; distinguir correlación de causalidad.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44952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534924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3DBE0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9" name="Text 7"/>
          <p:cNvSpPr txBox="1"/>
          <p:nvPr/>
        </p:nvSpPr>
        <p:spPr>
          <a:xfrm>
            <a:off x="694944" y="3429000"/>
            <a:ext cx="50566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&lt;- df %&gt;%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select(where(is.numeric))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cor(num, use = "complete.obs") %&gt;%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round(2)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cor(df$commit_size_loc,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df$num_bugs)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prop.table(table(df$priority,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df$deploy_status), margin = 1)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46304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916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Visualización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194560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tipo de variable, su gráfico: histograma, boxplot, barras y dispersión, con ejes y unidades claros.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044952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337560"/>
            <a:ext cx="534924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3DBE0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5" name="Text 13"/>
          <p:cNvSpPr txBox="1"/>
          <p:nvPr/>
        </p:nvSpPr>
        <p:spPr>
          <a:xfrm>
            <a:off x="6409944" y="3429000"/>
            <a:ext cx="50566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library(ggplot2)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ggplot(df, aes(build_time_min)) +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geom_histogram(bins = 20)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ggplot(df,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aes(team, ticket_resolution_h)) +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geom_boxplot()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7 Y ENTREGA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 reproducible y entregables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7 · REPORTE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todo en un documento que combine código, resultados y narrativa, y que cualquiera pueda regenerar de principio a fin sin errores.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53512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Esqueleto .Rmd / .qmd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349240" cy="2743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3DBE0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8" name="Text 6"/>
          <p:cNvSpPr txBox="1"/>
          <p:nvPr/>
        </p:nvSpPr>
        <p:spPr>
          <a:xfrm>
            <a:off x="694944" y="3337560"/>
            <a:ext cx="505663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"Análisis DevOps"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html_document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```{r setup, include=FALSE}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library(tidyverse)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Resultados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```{r}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summary(df)</a:t>
            </a:r>
            <a:endParaRPr lang="en-US" sz="10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46304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349240" cy="713232"/>
          </a:xfrm>
          <a:prstGeom prst="rect">
            <a:avLst/>
          </a:prstGeom>
          <a:solidFill>
            <a:srgbClr val="EEF2F4"/>
          </a:solidFill>
          <a:ln w="12700">
            <a:solidFill>
              <a:srgbClr val="D3DBE0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1" name="Text 9"/>
          <p:cNvSpPr txBox="1"/>
          <p:nvPr/>
        </p:nvSpPr>
        <p:spPr>
          <a:xfrm>
            <a:off x="6382512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837944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  </a:t>
            </a: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 README e instrucciones de ejecución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2624328"/>
            <a:ext cx="5349240" cy="713232"/>
          </a:xfrm>
          <a:prstGeom prst="rect">
            <a:avLst/>
          </a:prstGeom>
          <a:solidFill>
            <a:srgbClr val="EEF2F4"/>
          </a:solidFill>
          <a:ln w="12700">
            <a:solidFill>
              <a:srgbClr val="D3DBE0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4" name="Text 12"/>
          <p:cNvSpPr txBox="1"/>
          <p:nvPr/>
        </p:nvSpPr>
        <p:spPr>
          <a:xfrm>
            <a:off x="6382512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2679192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/ proyecto de R  </a:t>
            </a: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reproduce todo el análisis, comentado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3465576"/>
            <a:ext cx="5349240" cy="713232"/>
          </a:xfrm>
          <a:prstGeom prst="rect">
            <a:avLst/>
          </a:prstGeom>
          <a:solidFill>
            <a:srgbClr val="EEF2F4"/>
          </a:solidFill>
          <a:ln w="12700">
            <a:solidFill>
              <a:srgbClr val="D3DBE0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7" name="Text 15"/>
          <p:cNvSpPr txBox="1"/>
          <p:nvPr/>
        </p:nvSpPr>
        <p:spPr>
          <a:xfrm>
            <a:off x="6382512" y="3538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352044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reproducible  </a:t>
            </a: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.Rmd/.qmd exportado a HTML o PDF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4306824"/>
            <a:ext cx="5349240" cy="713232"/>
          </a:xfrm>
          <a:prstGeom prst="rect">
            <a:avLst/>
          </a:prstGeom>
          <a:solidFill>
            <a:srgbClr val="EEF2F4"/>
          </a:solidFill>
          <a:ln w="12700">
            <a:solidFill>
              <a:srgbClr val="D3DBE0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20" name="Text 18"/>
          <p:cNvSpPr txBox="1"/>
          <p:nvPr/>
        </p:nvSpPr>
        <p:spPr>
          <a:xfrm>
            <a:off x="6382512" y="4379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4361688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de prompts  </a:t>
            </a: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v1 → vN de cada prompt y qué verificaste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63640" y="5148072"/>
            <a:ext cx="5349240" cy="713232"/>
          </a:xfrm>
          <a:prstGeom prst="rect">
            <a:avLst/>
          </a:prstGeom>
          <a:solidFill>
            <a:srgbClr val="EEF2F4"/>
          </a:solidFill>
          <a:ln w="12700">
            <a:solidFill>
              <a:srgbClr val="D3DBE0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23" name="Text 21"/>
          <p:cNvSpPr txBox="1"/>
          <p:nvPr/>
        </p:nvSpPr>
        <p:spPr>
          <a:xfrm>
            <a:off x="6382512" y="5221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5202936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oral breve  </a:t>
            </a: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hallazgos y decisiones (5–10 min)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CRÍTICO DE LA 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Bitácora de prompts: cómo mejorarlos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central del </a:t>
            </a:r>
            <a:r>
              <a:rPr lang="en-US" sz="13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Documenta la evolución de tus prompts: por qué el primero no bastó y cómo lo refinaste hasta obtener algo correcto y verificable. 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 en casa: 1 </a:t>
            </a:r>
            <a:r>
              <a:rPr lang="en-US" sz="2800" b="1" dirty="0" err="1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512064"/>
          </a:xfrm>
          <a:prstGeom prst="rect">
            <a:avLst/>
          </a:prstGeom>
          <a:solidFill>
            <a:srgbClr val="EEF2F4"/>
          </a:solidFill>
          <a:ln w="12700">
            <a:solidFill>
              <a:srgbClr val="D3DBE0"/>
            </a:solidFill>
            <a:prstDash val="solid"/>
          </a:ln>
        </p:spPr>
        <p:txBody>
          <a:bodyPr/>
          <a:lstStyle/>
          <a:p>
            <a:endParaRPr lang="en-CL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57276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Días: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57276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1572768"/>
            <a:ext cx="7818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entorno, crear repositorio y bitácora, generar/descargar datos y limpiarlos.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57984"/>
            <a:ext cx="11064240" cy="512064"/>
          </a:xfrm>
          <a:prstGeom prst="rect">
            <a:avLst/>
          </a:prstGeom>
          <a:solidFill>
            <a:srgbClr val="EEF2F4"/>
          </a:solidFill>
          <a:ln w="12700">
            <a:solidFill>
              <a:srgbClr val="D3DBE0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9" name="Text 7"/>
          <p:cNvSpPr txBox="1"/>
          <p:nvPr/>
        </p:nvSpPr>
        <p:spPr>
          <a:xfrm>
            <a:off x="731520" y="217627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Días: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17627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176272"/>
            <a:ext cx="7818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univariada de las variables clave.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761488"/>
            <a:ext cx="11064240" cy="512064"/>
          </a:xfrm>
          <a:prstGeom prst="rect">
            <a:avLst/>
          </a:prstGeom>
          <a:solidFill>
            <a:srgbClr val="EEF2F4"/>
          </a:solidFill>
          <a:ln w="12700">
            <a:solidFill>
              <a:srgbClr val="D3DBE0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3" name="Text 11"/>
          <p:cNvSpPr txBox="1"/>
          <p:nvPr/>
        </p:nvSpPr>
        <p:spPr>
          <a:xfrm>
            <a:off x="731520" y="277977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Días: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277977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3–4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2779776"/>
            <a:ext cx="7818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de frecuencia y análisis comparativo por grupos.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64992"/>
            <a:ext cx="11064240" cy="512064"/>
          </a:xfrm>
          <a:prstGeom prst="rect">
            <a:avLst/>
          </a:prstGeom>
          <a:solidFill>
            <a:srgbClr val="EEF2F4"/>
          </a:solidFill>
          <a:ln w="12700">
            <a:solidFill>
              <a:srgbClr val="D3DBE0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17" name="Text 15"/>
          <p:cNvSpPr txBox="1"/>
          <p:nvPr/>
        </p:nvSpPr>
        <p:spPr>
          <a:xfrm>
            <a:off x="731520" y="33832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Días: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33832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611880" y="3383280"/>
            <a:ext cx="7818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bivariadas y primeras conclusiones.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968496"/>
            <a:ext cx="11064240" cy="512064"/>
          </a:xfrm>
          <a:prstGeom prst="rect">
            <a:avLst/>
          </a:prstGeom>
          <a:solidFill>
            <a:srgbClr val="EEF2F4"/>
          </a:solidFill>
          <a:ln w="12700">
            <a:solidFill>
              <a:srgbClr val="D3DBE0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21" name="Text 19"/>
          <p:cNvSpPr txBox="1"/>
          <p:nvPr/>
        </p:nvSpPr>
        <p:spPr>
          <a:xfrm>
            <a:off x="731520" y="398678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Días: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398678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611880" y="3986784"/>
            <a:ext cx="7818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Visualizaciones que comunican los hallazgos.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11064240" cy="512064"/>
          </a:xfrm>
          <a:prstGeom prst="rect">
            <a:avLst/>
          </a:prstGeom>
          <a:solidFill>
            <a:srgbClr val="EEF2F4"/>
          </a:solidFill>
          <a:ln w="12700">
            <a:solidFill>
              <a:srgbClr val="D3DBE0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25" name="Text 23"/>
          <p:cNvSpPr txBox="1"/>
          <p:nvPr/>
        </p:nvSpPr>
        <p:spPr>
          <a:xfrm>
            <a:off x="731520" y="459028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Días: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2103120" y="459028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7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3611880" y="4590288"/>
            <a:ext cx="7818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el reporte reproducible.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175504"/>
            <a:ext cx="11064240" cy="512064"/>
          </a:xfrm>
          <a:prstGeom prst="rect">
            <a:avLst/>
          </a:prstGeom>
          <a:solidFill>
            <a:srgbClr val="EEF2F4"/>
          </a:solidFill>
          <a:ln w="12700">
            <a:solidFill>
              <a:srgbClr val="D3DBE0"/>
            </a:solidFill>
            <a:prstDash val="solid"/>
          </a:ln>
        </p:spPr>
        <p:txBody>
          <a:bodyPr/>
          <a:lstStyle/>
          <a:p>
            <a:endParaRPr lang="en-CL"/>
          </a:p>
        </p:txBody>
      </p:sp>
      <p:sp>
        <p:nvSpPr>
          <p:cNvPr id="29" name="Text 27"/>
          <p:cNvSpPr txBox="1"/>
          <p:nvPr/>
        </p:nvSpPr>
        <p:spPr>
          <a:xfrm>
            <a:off x="731520" y="519379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Días: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2103120" y="519379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3611880" y="5193792"/>
            <a:ext cx="7818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la bitácora de prompts, revisar todo y ensayar la defensa.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Recursos: R for Data Science (r4ds.hadley.nz), ?funcion y vignette("dplyr") desde R. </a:t>
            </a:r>
            <a:r>
              <a:rPr lang="en-US" sz="1200" b="1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por entender los datos antes de calcular nada.</a:t>
            </a:r>
            <a:endParaRPr lang="en-US" sz="12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1232</Words>
  <Application>Microsoft Office PowerPoint</Application>
  <PresentationFormat>Panorámica</PresentationFormat>
  <Paragraphs>195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MP Lab04 PC31</cp:lastModifiedBy>
  <cp:revision>8</cp:revision>
  <dcterms:created xsi:type="dcterms:W3CDTF">2026-08-26T17:11:40Z</dcterms:created>
  <dcterms:modified xsi:type="dcterms:W3CDTF">2026-08-26T21:18:23Z</dcterms:modified>
</cp:coreProperties>
</file>